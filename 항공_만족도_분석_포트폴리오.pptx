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097280" cy="6400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</a:rPr>
              <a:t>항공 승객 만족도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DDE4EE"/>
                </a:solidFill>
                <a:latin typeface="Malgun Gothic"/>
              </a:rPr>
              <a:t>한정된 예산, 무엇부터 개선해야 만족도가 오를까?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DDE4EE"/>
                </a:solidFill>
                <a:latin typeface="Malgun Gothic"/>
              </a:rPr>
              <a:t>설문 103,904건 기반 개선 우선순위 도출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AB8C8"/>
                </a:solidFill>
                <a:latin typeface="Malgun Gothic"/>
              </a:rPr>
              <a:t>Taejung Jang  |  Python · statsmodels · scikit-learn  |  Kaggle Airline Passenger Satisfaction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algun Gothic"/>
              </a:rPr>
              <a:t>승객 10명 중 6명은 전체 비행에 만족하지 못함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822960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783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7B39"/>
                </a:solidFill>
                <a:latin typeface="Malgun Gothic"/>
              </a:rPr>
              <a:t>※ Kaggle 항공 승객 만족도 설문 데이터 기준 (승객 103,904명)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286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673"/>
                </a:solidFill>
                <a:latin typeface="Malgun Gothic"/>
              </a:rPr>
              <a:t>전체 비행에 대한 종합 만족도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43200"/>
            <a:ext cx="4751222" cy="11887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45582" y="2743200"/>
            <a:ext cx="6221577" cy="1188720"/>
          </a:xfrm>
          <a:prstGeom prst="rect">
            <a:avLst/>
          </a:prstGeom>
          <a:solidFill>
            <a:srgbClr val="C9D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43200"/>
            <a:ext cx="475122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</a:rPr>
              <a:t>만족 43%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5582" y="2743200"/>
            <a:ext cx="6221577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F3A5F"/>
                </a:solidFill>
                <a:latin typeface="Malgun Gothic"/>
              </a:rPr>
              <a:t>중립·불만 57%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480560"/>
            <a:ext cx="10972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F3A5F"/>
                </a:solidFill>
                <a:latin typeface="Malgun Gothic"/>
              </a:rPr>
              <a:t>전체 비행 만족률을 높이려면 어떤 서비스부터 개선해야 하는가?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algun Gothic"/>
              </a:rPr>
              <a:t>핵심 질문: 14개 서비스 중 어디에 먼저 투자할 것인가?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822960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28800"/>
            <a:ext cx="10972800" cy="10058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828800"/>
            <a:ext cx="10972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Malgun Gothic"/>
              </a:rPr>
              <a:t>예산은 한정됨 → 서비스별 개선 효과를 숫자로 비교해야 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017520"/>
            <a:ext cx="10972800" cy="15544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017520"/>
            <a:ext cx="91440" cy="1554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63240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07B39"/>
                </a:solidFill>
                <a:latin typeface="Malgun Gothic"/>
              </a:rPr>
              <a:t>정량 판단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Malgun Gothic"/>
              </a:rPr>
              <a:t>서비스를 개선했을 때, 전체 비행 만족률이 몇 %p 오르는가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3"/>
                </a:solidFill>
                <a:latin typeface="Malgun Gothic"/>
              </a:rPr>
              <a:t>예) 서비스 A 개선 +○%p  vs  서비스 B 개선 +○%p  →  큰 쪽에 우선 투자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800600"/>
            <a:ext cx="3474720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846320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</a:rPr>
              <a:t>1. 정량화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44068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서비스별 만족률 상승폭(%p) 산출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800600"/>
            <a:ext cx="3474720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846320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</a:rPr>
              <a:t>2. 우선순위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44068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상승폭 큰 순서로 정렬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4800600"/>
            <a:ext cx="3474720" cy="1371600"/>
          </a:xfrm>
          <a:prstGeom prst="rect">
            <a:avLst/>
          </a:prstGeom>
          <a:solidFill>
            <a:srgbClr val="5B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4846320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</a:rPr>
              <a:t>3. 추가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44068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승객 유형(출장/개인 여행)별 차이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※ "개선"의 구체적 기준은 데이터 분석 후 정의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algun Gothic"/>
              </a:rPr>
              <a:t>분석 데이터: Kaggle 항공 승객 만족도 설문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822960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783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7B39"/>
                </a:solidFill>
                <a:latin typeface="Malgun Gothic"/>
              </a:rPr>
              <a:t>출처: Kaggle "Airline Passenger Satisfaction"  |  승객 103,904명 × 24개 컬럼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286000"/>
            <a:ext cx="5394960" cy="3749039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5915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Malgun Gothic"/>
              </a:rPr>
              <a:t>서비스 평가 컬럼 (14개): 점수 0~5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926080"/>
            <a:ext cx="749808" cy="777240"/>
          </a:xfrm>
          <a:prstGeom prst="rect">
            <a:avLst/>
          </a:prstGeom>
          <a:solidFill>
            <a:srgbClr val="C9D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26080"/>
            <a:ext cx="74980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F3A5F"/>
                </a:solidFill>
                <a:latin typeface="Malgun Gothic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49039"/>
            <a:ext cx="9326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해당없음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81912" y="2926080"/>
            <a:ext cx="749808" cy="777240"/>
          </a:xfrm>
          <a:prstGeom prst="rect">
            <a:avLst/>
          </a:prstGeom>
          <a:solidFill>
            <a:srgbClr val="B7C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926080"/>
            <a:ext cx="74980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F3A5F"/>
                </a:solidFill>
                <a:latin typeface="Malgun Gothi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3749039"/>
            <a:ext cx="9326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매우 불만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86584" y="2926080"/>
            <a:ext cx="749808" cy="777240"/>
          </a:xfrm>
          <a:prstGeom prst="rect">
            <a:avLst/>
          </a:prstGeom>
          <a:solidFill>
            <a:srgbClr val="8FA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86584" y="2926080"/>
            <a:ext cx="74980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95144" y="3749039"/>
            <a:ext cx="9326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3191256" y="2926080"/>
            <a:ext cx="749808" cy="777240"/>
          </a:xfrm>
          <a:prstGeom prst="rect">
            <a:avLst/>
          </a:prstGeom>
          <a:solidFill>
            <a:srgbClr val="5F7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91256" y="2926080"/>
            <a:ext cx="74980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9816" y="3749039"/>
            <a:ext cx="9326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보통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95928" y="2926080"/>
            <a:ext cx="749808" cy="777240"/>
          </a:xfrm>
          <a:prstGeom prst="rect">
            <a:avLst/>
          </a:prstGeom>
          <a:solidFill>
            <a:srgbClr val="2E4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95928" y="2926080"/>
            <a:ext cx="74980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4488" y="3749039"/>
            <a:ext cx="9326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2926080"/>
            <a:ext cx="749808" cy="7772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2926080"/>
            <a:ext cx="74980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3749039"/>
            <a:ext cx="9326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매우 만족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297680"/>
            <a:ext cx="5029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Malgun Gothic"/>
              </a:rPr>
              <a:t>• 승객이 항목별로 0~5점 직접 평가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Malgun Gothic"/>
              </a:rPr>
              <a:t>• 점수가 높을수록 만족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Malgun Gothic"/>
              </a:rPr>
              <a:t>• 0점은 "해당없음" (예: 와이파이 미이용)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286000"/>
            <a:ext cx="5349240" cy="17830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235915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Malgun Gothic"/>
              </a:rPr>
              <a:t>서비스 평가 컬럼 목록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788920"/>
            <a:ext cx="5029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B36"/>
                </a:solidFill>
                <a:latin typeface="Malgun Gothic"/>
              </a:rPr>
              <a:t>출발 전: 온라인 예약 · 체크인 · 온라인 탑승 · 게이트 위치 · 출·도착 시간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B36"/>
                </a:solidFill>
                <a:latin typeface="Malgun Gothic"/>
              </a:rPr>
              <a:t>기내: 와이파이 · 좌석 · 다리 공간 · 엔터테인먼트 · 음식 · 청결 · 탑승 서비스 · 기내 서비스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B36"/>
                </a:solidFill>
                <a:latin typeface="Malgun Gothic"/>
              </a:rPr>
              <a:t>기타: 수하물 처리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160520"/>
            <a:ext cx="5349240" cy="9601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18795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Malgun Gothic"/>
              </a:rPr>
              <a:t>승객 정보 컬럼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53712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B36"/>
                </a:solidFill>
                <a:latin typeface="Malgun Gothic"/>
              </a:rPr>
              <a:t>성별 · 나이 · 고객 유형(충성/비충성) · 여행 목적 · 좌석 등급 · 비행 거리 · 지연 시간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212080"/>
            <a:ext cx="5349240" cy="8229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23036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07B39"/>
                </a:solidFill>
                <a:latin typeface="Malgun Gothic"/>
              </a:rPr>
              <a:t>결과 컬럼 (분석 대상)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5778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B36"/>
                </a:solidFill>
                <a:latin typeface="Malgun Gothic"/>
              </a:rPr>
              <a:t>전체 비행 만족도: 만족 / 중립·불만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algun Gothic"/>
              </a:rPr>
              <a:t>승객 유형별 비행 만족률 격차 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822960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5</a:t>
            </a:r>
          </a:p>
        </p:txBody>
      </p:sp>
      <p:pic>
        <p:nvPicPr>
          <p:cNvPr id="13" name="Picture 12" descr="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36804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94360" y="5760720"/>
            <a:ext cx="10972800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760720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</a:rPr>
              <a:t>→ 승객 유형(여행 목적·고객 유형·좌석 등급)을 함께 고려한 분석 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algun Gothic"/>
              </a:rPr>
              <a:t>데이터 전처리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822960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28800"/>
            <a:ext cx="233172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828800"/>
            <a:ext cx="2331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항목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1828800"/>
            <a:ext cx="397764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1828800"/>
            <a:ext cx="3977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문제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828800"/>
            <a:ext cx="434340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1828800"/>
            <a:ext cx="4343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처리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514600"/>
            <a:ext cx="2331720" cy="1097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514600"/>
            <a:ext cx="2148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algun Gothic"/>
              </a:rPr>
              <a:t>결측치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2514600"/>
            <a:ext cx="3977640" cy="1097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80" y="2514600"/>
            <a:ext cx="3794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Malgun Gothic"/>
              </a:rPr>
              <a:t>도착 지연 시간 310건(0.3%) 비어 있음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514600"/>
            <a:ext cx="4343400" cy="1097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79" y="2514600"/>
            <a:ext cx="4160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Malgun Gothic"/>
              </a:rPr>
              <a:t>출발 지연 시간과 상관 0.97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Malgun Gothic"/>
              </a:rPr>
              <a:t>→ 회귀식으로 값 추정해 채움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703320"/>
            <a:ext cx="2331720" cy="1097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703320"/>
            <a:ext cx="2148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algun Gothic"/>
              </a:rPr>
              <a:t>이상치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3703320"/>
            <a:ext cx="3977640" cy="1097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80" y="3703320"/>
            <a:ext cx="3794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Malgun Gothic"/>
              </a:rPr>
              <a:t>비행 거리에 극단적으로 큰 값 존재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3703320"/>
            <a:ext cx="4343400" cy="1097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79" y="3703320"/>
            <a:ext cx="4160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Malgun Gothic"/>
              </a:rPr>
              <a:t>상·하한(IQR 기준)으로 보정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Malgun Gothic"/>
              </a:rPr>
              <a:t>→ 삭제하지 않아 표본 유지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892040"/>
            <a:ext cx="2331720" cy="1097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892040"/>
            <a:ext cx="2148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algun Gothic"/>
              </a:rPr>
              <a:t>중복 정보 변수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4892040"/>
            <a:ext cx="3977640" cy="1097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54680" y="4892040"/>
            <a:ext cx="3794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Malgun Gothic"/>
              </a:rPr>
              <a:t>출발 지연과 도착 지연이 거의 같은 정보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Malgun Gothic"/>
              </a:rPr>
              <a:t>(다중공선성, VIF 14.9)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8040" y="4892040"/>
            <a:ext cx="4343400" cy="1097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79" y="4892040"/>
            <a:ext cx="4160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Malgun Gothic"/>
              </a:rPr>
              <a:t>도착 지연 변수 제외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Malgun Gothic"/>
              </a:rPr>
              <a:t>→ 서비스 효과 추정 왜곡 방지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algun Gothic"/>
              </a:rPr>
              <a:t>서비스 평가 점수가 4점부터 전체 비행 만족률이 급증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822960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783080"/>
            <a:ext cx="10972800" cy="548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1783080"/>
            <a:ext cx="64008" cy="548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78308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Malgun Gothic"/>
              </a:rPr>
              <a:t>서비스 평가 점수(개별 서비스)와 전체 비행 만족 여부(종합)는 별개의 설문 항목</a:t>
            </a:r>
          </a:p>
        </p:txBody>
      </p:sp>
      <p:pic>
        <p:nvPicPr>
          <p:cNvPr id="16" name="Picture 15" descr="wif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14600"/>
            <a:ext cx="5577840" cy="350864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583680" y="2514600"/>
            <a:ext cx="4983480" cy="17373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624328"/>
            <a:ext cx="4983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E07B39"/>
                </a:solidFill>
                <a:latin typeface="Malgun Gothic"/>
              </a:rPr>
              <a:t>25% → 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74720"/>
            <a:ext cx="480060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673"/>
                </a:solidFill>
                <a:latin typeface="Malgun Gothic"/>
              </a:rPr>
              <a:t>와이파이를 3점 준 승객 vs 4점 준 승객 중
전체 비행에 만족한 비율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389120"/>
            <a:ext cx="4983480" cy="1600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389120"/>
            <a:ext cx="466344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1~3점은 25~33%로 비슷, 4점부터 급증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→ 개선 기준: 4점 미만 → 4점 이상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→ 판단 기준: 이때 전체 비행 만족률 상승폭 (%p)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8076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673"/>
                </a:solidFill>
                <a:latin typeface="Malgun Gothic"/>
              </a:rPr>
              <a:t>※ 0점(해당없음) 제외. 다른 서비스도 비슷한 패턴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algun Gothic"/>
              </a:rPr>
              <a:t>분석 방법: 로지스틱 회귀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822960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7373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B6673"/>
                </a:solidFill>
                <a:latin typeface="Malgun Gothic"/>
              </a:rPr>
              <a:t>서비스 평가 점수(입력) → 전체 비행 만족 확률(결과)의 관계를 수식으로 추정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240280"/>
            <a:ext cx="10972800" cy="1600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240280"/>
            <a:ext cx="91440" cy="16002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28600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A5F"/>
                </a:solidFill>
                <a:latin typeface="Malgun Gothic"/>
              </a:rPr>
              <a:t>ln( p / (1 − p) ) = a₁·와이파이 + a₂·온라인 탑승 + … + b·승객 유형 +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1752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B36"/>
                </a:solidFill>
                <a:latin typeface="Malgun Gothic"/>
              </a:rPr>
              <a:t>p: 전체 비행 만족 확률   |   서비스 변수: 4점 이상이면 1, 아니면 0   |   승객 유형: 여행 목적·좌석 등급 등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B36"/>
                </a:solidFill>
                <a:latin typeface="Malgun Gothic"/>
              </a:rPr>
              <a:t>a: 서비스별 효과 크기 (클수록 만족 확률을 더 크게 올림)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23360"/>
            <a:ext cx="3474720" cy="1463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4023360"/>
            <a:ext cx="3474720" cy="73152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6052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algun Gothic"/>
              </a:rPr>
              <a:t>1. 관계 추정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634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22B36"/>
                </a:solidFill>
                <a:latin typeface="Malgun Gothic"/>
              </a:rPr>
              <a:t>서비스 점수와 만족 여부의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22B36"/>
                </a:solidFill>
                <a:latin typeface="Malgun Gothic"/>
              </a:rPr>
              <a:t>관계를 수식으로 추정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023360"/>
            <a:ext cx="3474720" cy="1463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4023360"/>
            <a:ext cx="3474720" cy="73152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16052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algun Gothic"/>
              </a:rPr>
              <a:t>2. 다른 조건 고정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6634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22B36"/>
                </a:solidFill>
                <a:latin typeface="Malgun Gothic"/>
              </a:rPr>
              <a:t>승객 유형이 같다고 두고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22B36"/>
                </a:solidFill>
                <a:latin typeface="Malgun Gothic"/>
              </a:rPr>
              <a:t>서비스별 순수 효과 비교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4023360"/>
            <a:ext cx="3474720" cy="1463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4023360"/>
            <a:ext cx="3474720" cy="73152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416052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algun Gothic"/>
              </a:rPr>
              <a:t>3. 쉬운 해석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6634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22B36"/>
                </a:solidFill>
                <a:latin typeface="Malgun Gothic"/>
              </a:rPr>
              <a:t>"4점 이상 개선 시 만족률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22B36"/>
                </a:solidFill>
                <a:latin typeface="Malgun Gothic"/>
              </a:rPr>
              <a:t>몇 %p 상승"으로 바로 설명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715000"/>
            <a:ext cx="10972800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715000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</a:rPr>
              <a:t>→ 이 방법으로 서비스별 "4점 이상 개선 시 전체 비행 만족률 상승폭"을 산출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algun Gothic"/>
              </a:rPr>
              <a:t>모델 검증: 만족 여부를 89% 맞혀 분석 결과 신뢰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822960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28800"/>
            <a:ext cx="5394960" cy="19202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938528"/>
            <a:ext cx="5394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E07B39"/>
                </a:solidFill>
                <a:latin typeface="Malgun Gothic"/>
              </a:rPr>
              <a:t>89.3%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88920"/>
            <a:ext cx="52120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673"/>
                </a:solidFill>
                <a:latin typeface="Malgun Gothic"/>
              </a:rPr>
              <a:t>정확도: 검증 데이터 승객의 전체 비행 만족 여부를 맞힌 비율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828800"/>
            <a:ext cx="5394960" cy="19202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938528"/>
            <a:ext cx="5394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E07B39"/>
                </a:solidFill>
                <a:latin typeface="Malgun Gothic"/>
              </a:rPr>
              <a:t>0.943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788920"/>
            <a:ext cx="52120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673"/>
                </a:solidFill>
                <a:latin typeface="Malgun Gothic"/>
              </a:rPr>
              <a:t>AUC: 만족 / 불만 승객을 구분하는 능력 (1에 가까울수록 우수)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977639"/>
            <a:ext cx="10972800" cy="13716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977639"/>
            <a:ext cx="64008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77639"/>
            <a:ext cx="106070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algun Gothic"/>
              </a:rPr>
              <a:t>서비스 점수를 "4점 이상 여부"로 바꿔 입력했을 때 성능 개선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algun Gothic"/>
              </a:rPr>
              <a:t>정확도 87.7% → 89.3%  ·  AUC 0.928 → 0.943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5577840"/>
            <a:ext cx="10972800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</a:rPr>
              <a:t>→ 모델이 실제 만족 여부를 잘 설명하므로, 이어지는 분석 결과를 신뢰할 수 있음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※ 학습 80% / 검증 20% 분할, 검증 데이터 기준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algun Gothic"/>
              </a:rPr>
              <a:t>분석 결과: 와이파이·온라인 탑승 개선 효과가 가장 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822960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783080"/>
            <a:ext cx="10972800" cy="548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1783080"/>
            <a:ext cx="64008" cy="548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78308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Malgun Gothic"/>
              </a:rPr>
              <a:t>기준: 서비스 평가가 4점 미만 → 4점 이상으로 오를 때, 전체 비행 만족률이 몇 %p 오르는가</a:t>
            </a:r>
          </a:p>
        </p:txBody>
      </p:sp>
      <p:pic>
        <p:nvPicPr>
          <p:cNvPr id="16" name="Picture 15" descr="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5760720" cy="334925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589520" y="2560320"/>
            <a:ext cx="3977639" cy="13716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2560320"/>
            <a:ext cx="64008" cy="1371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560320"/>
            <a:ext cx="3657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A5F"/>
                </a:solidFill>
                <a:latin typeface="Malgun Gothic"/>
              </a:rPr>
              <a:t>1위 와이파이 +11.8%p</a:t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A5F"/>
                </a:solidFill>
                <a:latin typeface="Malgun Gothic"/>
              </a:rPr>
              <a:t>2위 온라인 탑승 +8.2%p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4114800"/>
            <a:ext cx="3977639" cy="1097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4114800"/>
            <a:ext cx="64008" cy="1097280"/>
          </a:xfrm>
          <a:prstGeom prst="rect">
            <a:avLst/>
          </a:prstGeom>
          <a:solidFill>
            <a:srgbClr val="5B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114800"/>
            <a:ext cx="3657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B36"/>
                </a:solidFill>
                <a:latin typeface="Malgun Gothic"/>
              </a:rPr>
              <a:t>나머지는 +4%p 이하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B36"/>
                </a:solidFill>
                <a:latin typeface="Malgun Gothic"/>
              </a:rPr>
              <a:t>음식·게이트 위치는 영향 거의 없음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943600"/>
            <a:ext cx="10972800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943600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</a:rPr>
              <a:t>→ 전체 승객 기준 우선 투자 대상: 와이파이, 온라인 탑승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algun Gothic"/>
              </a:rPr>
              <a:t>추가 확인: 와이파이는 모든 승객에 효과, 온라인 탑승은 출장 중심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822960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783080"/>
            <a:ext cx="10972800" cy="548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1783080"/>
            <a:ext cx="64008" cy="548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78308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Malgun Gothic"/>
              </a:rPr>
              <a:t>같은 기준을 출장 승객 / 개인 여행 승객으로 나눠서 확인 (고객군별 모델)</a:t>
            </a:r>
          </a:p>
        </p:txBody>
      </p:sp>
      <p:pic>
        <p:nvPicPr>
          <p:cNvPr id="16" name="Picture 15" descr="seg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23160"/>
            <a:ext cx="6035040" cy="344859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406640" y="2560320"/>
            <a:ext cx="4160520" cy="1417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2560320"/>
            <a:ext cx="64008" cy="14173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560320"/>
            <a:ext cx="38862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Malgun Gothic"/>
              </a:rPr>
              <a:t>공통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Malgun Gothic"/>
              </a:rPr>
              <a:t>와이파이는 두 유형 모두 상승 (개인 여행에서 특히 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4114800"/>
            <a:ext cx="4160520" cy="1417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4114800"/>
            <a:ext cx="64008" cy="1417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4114800"/>
            <a:ext cx="38862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Malgun Gothic"/>
              </a:rPr>
              <a:t>차이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Malgun Gothic"/>
              </a:rPr>
              <a:t>온라인 탑승·체크인은 출장에서만 상승, 개인 여행은 변화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※ 서비스를 승객 유형별로 따로 제공하자는 의미가 아니라, 개선 효과가 어느 승객에게서 나타나는지 확인한 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algun Gothic"/>
              </a:rPr>
              <a:t>결론: 와이파이 → 온라인 탑승 순으로 우선 투자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822960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28800"/>
            <a:ext cx="114300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828800"/>
            <a:ext cx="1143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순위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1828800"/>
            <a:ext cx="283464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1828800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서비스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828800"/>
            <a:ext cx="269748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1828800"/>
            <a:ext cx="2697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전체 비행 만족률 상승폭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1828800"/>
            <a:ext cx="411480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182880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참고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468880"/>
            <a:ext cx="114300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83080" y="2468880"/>
            <a:ext cx="283464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9160" y="2468880"/>
            <a:ext cx="269748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2468880"/>
            <a:ext cx="411480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468880"/>
            <a:ext cx="1143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07B39"/>
                </a:solidFill>
                <a:latin typeface="Malgun Gothic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2468880"/>
            <a:ext cx="2834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algun Gothic"/>
              </a:rPr>
              <a:t>기내 와이파이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2468880"/>
            <a:ext cx="2697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07B39"/>
                </a:solidFill>
                <a:latin typeface="Malgun Gothic"/>
              </a:rPr>
              <a:t>+11.8%p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2468880"/>
            <a:ext cx="3931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B36"/>
                </a:solidFill>
                <a:latin typeface="Malgun Gothic"/>
              </a:rPr>
              <a:t>모든 승객 유형에 효과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B36"/>
                </a:solidFill>
                <a:latin typeface="Malgun Gothic"/>
              </a:rPr>
              <a:t>(개인 여행 승객 +30%p, 출장 +7%p)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246120"/>
            <a:ext cx="114300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83080" y="3246120"/>
            <a:ext cx="283464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60" y="3246120"/>
            <a:ext cx="269748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52360" y="3246120"/>
            <a:ext cx="411480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246120"/>
            <a:ext cx="1143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07B39"/>
                </a:solidFill>
                <a:latin typeface="Malgun Gothic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3246120"/>
            <a:ext cx="2834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algun Gothic"/>
              </a:rPr>
              <a:t>온라인 탑승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3246120"/>
            <a:ext cx="2697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07B39"/>
                </a:solidFill>
                <a:latin typeface="Malgun Gothic"/>
              </a:rPr>
              <a:t>+8.2%p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246120"/>
            <a:ext cx="3931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B36"/>
                </a:solidFill>
                <a:latin typeface="Malgun Gothic"/>
              </a:rPr>
              <a:t>출장 승객에서 효과 집중 (+11%p)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023360"/>
            <a:ext cx="114300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83080" y="4023360"/>
            <a:ext cx="283464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9160" y="4023360"/>
            <a:ext cx="269748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52360" y="4023360"/>
            <a:ext cx="411480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023360"/>
            <a:ext cx="1143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5B6673"/>
                </a:solidFill>
                <a:latin typeface="Malgun Gothic"/>
              </a:rPr>
              <a:t>후보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4023360"/>
            <a:ext cx="2834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algun Gothic"/>
              </a:rPr>
              <a:t>다리 공간 · 체크인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4023360"/>
            <a:ext cx="2697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5B6673"/>
                </a:solidFill>
                <a:latin typeface="Malgun Gothic"/>
              </a:rPr>
              <a:t>+3.4%p · +2.6%p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4023360"/>
            <a:ext cx="3931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B36"/>
                </a:solidFill>
                <a:latin typeface="Malgun Gothic"/>
              </a:rPr>
              <a:t>1·2순위 이후 검토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4800600"/>
            <a:ext cx="114300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83080" y="4800600"/>
            <a:ext cx="283464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09160" y="4800600"/>
            <a:ext cx="269748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52360" y="4800600"/>
            <a:ext cx="411480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4800600"/>
            <a:ext cx="1143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5B6673"/>
                </a:solidFill>
                <a:latin typeface="Malgun Gothic"/>
              </a:rPr>
              <a:t>제외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83080" y="4800600"/>
            <a:ext cx="2834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algun Gothic"/>
              </a:rPr>
              <a:t>음식 · 게이트 위치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4800600"/>
            <a:ext cx="2697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5B6673"/>
                </a:solidFill>
                <a:latin typeface="Malgun Gothic"/>
              </a:rPr>
              <a:t>거의 없음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4800600"/>
            <a:ext cx="3931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B36"/>
                </a:solidFill>
                <a:latin typeface="Malgun Gothic"/>
              </a:rPr>
              <a:t>투자 후순위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5806440"/>
            <a:ext cx="10972800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</a:rPr>
              <a:t>→ 승객 구분 없이 와이파이·온라인 탑승부터 전체 개선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※ 상관 기반 추정이며 실제 효과는 시범 적용으로 확인 필요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7804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27432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algun Gothic"/>
              </a:rPr>
              <a:t>한계와 향후 과제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822960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673"/>
                </a:solidFill>
                <a:latin typeface="Malgun Gothic"/>
              </a:rPr>
              <a:t>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920240"/>
            <a:ext cx="5349240" cy="38404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1920240"/>
            <a:ext cx="5349240" cy="731520"/>
          </a:xfrm>
          <a:prstGeom prst="rect">
            <a:avLst/>
          </a:prstGeom>
          <a:solidFill>
            <a:srgbClr val="5B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920240"/>
            <a:ext cx="5349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26080"/>
            <a:ext cx="48463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22B36"/>
                </a:solidFill>
                <a:latin typeface="Malgun Gothic"/>
              </a:rPr>
              <a:t>• 설문 상관 분석 → 인과는 시범 적용(A/B)으로 확인 필요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22B36"/>
                </a:solidFill>
                <a:latin typeface="Malgun Gothic"/>
              </a:rPr>
              <a:t>• 0점(해당없음)을 낮은 점수와 동일 처리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22B36"/>
                </a:solidFill>
                <a:latin typeface="Malgun Gothic"/>
              </a:rPr>
              <a:t>• 개선 비용 데이터 없음 → ROI 산출 불가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5349240" cy="38404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920240"/>
            <a:ext cx="5349240" cy="7315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920240"/>
            <a:ext cx="5349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향후 과제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26080"/>
            <a:ext cx="48463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22B36"/>
                </a:solidFill>
                <a:latin typeface="Malgun Gothic"/>
              </a:rPr>
              <a:t>• Gradient Boosting + SHAP로 상호작용 확인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22B36"/>
                </a:solidFill>
                <a:latin typeface="Malgun Gothic"/>
              </a:rPr>
              <a:t>• 개선 비용 시나리오 반영한 ROI 우선순위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22B36"/>
                </a:solidFill>
                <a:latin typeface="Malgun Gothic"/>
              </a:rPr>
              <a:t>• 대시보드화 (Tableau/Streamlit)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